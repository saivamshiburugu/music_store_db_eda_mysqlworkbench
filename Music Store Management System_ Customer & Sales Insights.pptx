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Lato Black"/>
      <p:bold r:id="rId26"/>
      <p:boldItalic r:id="rId27"/>
    </p:embeddedFont>
    <p:embeddedFont>
      <p:font typeface="Libre Baskerville"/>
      <p:regular r:id="rId28"/>
      <p:bold r:id="rId29"/>
      <p: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774sJgE0Cs665kZcVLDbykEB+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Black-bold.fntdata"/><Relationship Id="rId25" Type="http://schemas.openxmlformats.org/officeDocument/2006/relationships/slide" Target="slides/slide21.xml"/><Relationship Id="rId28" Type="http://schemas.openxmlformats.org/officeDocument/2006/relationships/font" Target="fonts/LibreBaskerville-regular.fntdata"/><Relationship Id="rId27" Type="http://schemas.openxmlformats.org/officeDocument/2006/relationships/font" Target="fonts/LatoBlac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ibreBaskervill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LibreBaskerville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d7509d9f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d7509d9f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8d7509d9fb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d7509d9fb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d7509d9fb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8d7509d9fb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d7509d9fb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d7509d9fb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d7509d9fb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d7509d9fb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d7509d9fb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8d7509d9fb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d7509d9fb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d7509d9fb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8d7509d9fb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d7509d9fb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d7509d9fb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8d7509d9fb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d7509d9fb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d7509d9fb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8d7509d9fb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d7509d9fb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d7509d9fb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8d7509d9fb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d7509d9fb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d7509d9fb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8d7509d9fb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d7509d9fb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d7509d9fb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8d7509d9fb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d7509d9fb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d7509d9fb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8d7509d9fb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d7509d9fb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d7509d9fb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8d7509d9fb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d7509d9fb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d7509d9fb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8d7509d9fb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e06648fd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e06648fd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8e06648fd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e06648fd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e06648fd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8e06648fd4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7e83be3a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7e83be3a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97e83be3a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7dcd1651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7dcd1651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97dcd1651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d00c01fd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d00c01fd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9d00c01fd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9" name="Google Shape;2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SaiVamshiBurugu" TargetMode="External"/><Relationship Id="rId4" Type="http://schemas.openxmlformats.org/officeDocument/2006/relationships/hyperlink" Target="https://www.linkedin.com/in/saivamshiburugu/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" y="0"/>
            <a:ext cx="12190813" cy="66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0" y="3717927"/>
            <a:ext cx="72462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IN" sz="47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Music Store Management System: Customer &amp; Sales Insights</a:t>
            </a:r>
            <a:endParaRPr b="1" i="0" sz="4700" u="none" cap="none" strike="noStrike">
              <a:solidFill>
                <a:srgbClr val="434343"/>
              </a:solidFill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8700" y="112426"/>
            <a:ext cx="25527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2" y="471486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b="0" i="0" lang="en-IN" sz="3200" u="none" cap="none" strike="noStrik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27656" y="416554"/>
            <a:ext cx="6099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b="0" i="0" lang="en-IN" sz="3200" u="none" cap="none" strike="noStrik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53050" y="1176925"/>
            <a:ext cx="11085900" cy="4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 Vamshi Burugu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(B.E - 2023 )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Calibri"/>
                <a:ea typeface="Calibri"/>
                <a:cs typeface="Calibri"/>
                <a:sym typeface="Calibri"/>
              </a:rPr>
              <a:t>I’m an aspiring Data Scientist who enjoys exploring data and solving real-world problems. I’ve always wanted to contribute to the rapidly evolving field of AI and Machine Learning.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Calibri"/>
                <a:ea typeface="Calibri"/>
                <a:cs typeface="Calibri"/>
                <a:sym typeface="Calibri"/>
              </a:rPr>
              <a:t>With nearly 2 years of experience at TCS, I’m now focused on building my expertise in data science and working towards creating innovative solutions.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911500" y="6160075"/>
            <a:ext cx="3404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https://github.com/SaiVamshiBurugu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4557500" y="6114175"/>
            <a:ext cx="429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https://www.linkedin.com/in/saivamshiburugu/</a:t>
            </a:r>
            <a:endParaRPr sz="1600"/>
          </a:p>
        </p:txBody>
      </p:sp>
      <p:pic>
        <p:nvPicPr>
          <p:cNvPr id="111" name="Google Shape;11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050" y="6121000"/>
            <a:ext cx="386525" cy="38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0975" y="6121013"/>
            <a:ext cx="386525" cy="38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14641" y="-12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8d7509d9fb_0_9"/>
          <p:cNvPicPr preferRelativeResize="0"/>
          <p:nvPr/>
        </p:nvPicPr>
        <p:blipFill rotWithShape="1">
          <a:blip r:embed="rId3">
            <a:alphaModFix/>
          </a:blip>
          <a:srcRect b="0" l="2439" r="0" t="0"/>
          <a:stretch/>
        </p:blipFill>
        <p:spPr>
          <a:xfrm>
            <a:off x="97550" y="910825"/>
            <a:ext cx="8808126" cy="587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8d7509d9fb_0_9"/>
          <p:cNvPicPr preferRelativeResize="0"/>
          <p:nvPr/>
        </p:nvPicPr>
        <p:blipFill rotWithShape="1">
          <a:blip r:embed="rId4">
            <a:alphaModFix/>
          </a:blip>
          <a:srcRect b="13659" l="0" r="0" t="0"/>
          <a:stretch/>
        </p:blipFill>
        <p:spPr>
          <a:xfrm>
            <a:off x="8466402" y="3157954"/>
            <a:ext cx="3400050" cy="276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8d7509d9fb_0_9"/>
          <p:cNvPicPr preferRelativeResize="0"/>
          <p:nvPr/>
        </p:nvPicPr>
        <p:blipFill rotWithShape="1">
          <a:blip r:embed="rId5">
            <a:alphaModFix/>
          </a:blip>
          <a:srcRect b="32687" l="0" r="29908" t="0"/>
          <a:stretch/>
        </p:blipFill>
        <p:spPr>
          <a:xfrm>
            <a:off x="6904252" y="6107880"/>
            <a:ext cx="1280250" cy="6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8d7509d9fb_0_9"/>
          <p:cNvSpPr txBox="1"/>
          <p:nvPr/>
        </p:nvSpPr>
        <p:spPr>
          <a:xfrm>
            <a:off x="129915" y="-1584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Entity-Relationship diagram</a:t>
            </a:r>
            <a:endParaRPr b="1" sz="4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g38d7509d9fb_0_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6902" y="176600"/>
            <a:ext cx="2722550" cy="20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d7509d9fb_0_18"/>
          <p:cNvSpPr txBox="1"/>
          <p:nvPr/>
        </p:nvSpPr>
        <p:spPr>
          <a:xfrm>
            <a:off x="120100" y="204825"/>
            <a:ext cx="11849400" cy="17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 Who is the senior most employee based on job title? </a:t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g38d7509d9fb_0_18"/>
          <p:cNvPicPr preferRelativeResize="0"/>
          <p:nvPr/>
        </p:nvPicPr>
        <p:blipFill rotWithShape="1">
          <a:blip r:embed="rId3">
            <a:alphaModFix/>
          </a:blip>
          <a:srcRect b="-3314" l="-10711" r="1517" t="2263"/>
          <a:stretch/>
        </p:blipFill>
        <p:spPr>
          <a:xfrm>
            <a:off x="-606550" y="1712675"/>
            <a:ext cx="9905024" cy="431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8d7509d9fb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1273" y="1712673"/>
            <a:ext cx="5240725" cy="21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d7509d9fb_0_30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 Which countries have the most Invoices?</a:t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g38d7509d9fb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500" y="1314425"/>
            <a:ext cx="10520451" cy="21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8d7509d9fb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7700" y="2811700"/>
            <a:ext cx="4002500" cy="23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8d7509d9fb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100" y="3885575"/>
            <a:ext cx="1855850" cy="28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d7509d9fb_0_36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What are the top 3 values of total invoice?</a:t>
            </a:r>
            <a:endParaRPr b="1" sz="4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g38d7509d9fb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2925" y="4228541"/>
            <a:ext cx="2092200" cy="224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8d7509d9fb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700" y="1201925"/>
            <a:ext cx="6345039" cy="23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d7509d9fb_0_42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 Which city has the best customers? - We would like to throw a promotional Music Festival in the city we made the most money. Write a query that returns one city that has the highest sum of invoice totals. Return both the city name &amp; sum of all invoice totals.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38d7509d9fb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00" y="2266925"/>
            <a:ext cx="12071899" cy="170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8d7509d9fb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123608"/>
            <a:ext cx="5718575" cy="157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8d7509d9fb_0_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1850" y="3745050"/>
            <a:ext cx="2972125" cy="208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d7509d9fb_0_48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 Who is the best customer? - The customer who has spent the most money will be declared the best customer. Write a query that returns the person who has spent the most money.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38d7509d9fb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82175"/>
            <a:ext cx="10808075" cy="28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8d7509d9fb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50" y="5273875"/>
            <a:ext cx="7516025" cy="116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d7509d9fb_0_54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 Write a query to return the email, first name, last name, &amp; Genre of all Rock Music listeners. Return your list ordered alphabetically by email starting with A.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8d7509d9fb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00" y="2217825"/>
            <a:ext cx="8186441" cy="404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8d7509d9fb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7199" y="3096449"/>
            <a:ext cx="6365350" cy="16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d7509d9fb_0_60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 Let's invite the artists who have written the most rock music in our dataset. Write a query that returns the Artist name and total track count of the top 10 rock bands.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g38d7509d9fb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300" y="1839525"/>
            <a:ext cx="11675406" cy="50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8d7509d9fb_0_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8050" y="5932350"/>
            <a:ext cx="3404125" cy="87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8d7509d9fb_0_60"/>
          <p:cNvPicPr preferRelativeResize="0"/>
          <p:nvPr/>
        </p:nvPicPr>
        <p:blipFill rotWithShape="1">
          <a:blip r:embed="rId5">
            <a:alphaModFix/>
          </a:blip>
          <a:srcRect b="12990" l="0" r="0" t="0"/>
          <a:stretch/>
        </p:blipFill>
        <p:spPr>
          <a:xfrm>
            <a:off x="5957350" y="2594739"/>
            <a:ext cx="5432725" cy="34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d7509d9fb_0_66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 Return all the track names that have a song length longer than the average song length.- Return the Name and Milliseconds for each track. Order by the song length, with the longest songs listed first</a:t>
            </a:r>
            <a:endParaRPr b="1"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g38d7509d9fb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00" y="2158925"/>
            <a:ext cx="81629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8d7509d9fb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9275" y="3316327"/>
            <a:ext cx="4081600" cy="340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8d7509d9fb_0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100" y="512417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d7509d9fb_0_72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 Find how much amount is spent by each customer on artists? Write a query to return customer name, artist name and total spent .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38d7509d9fb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3179"/>
            <a:ext cx="12039600" cy="431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8d7509d9fb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925" y="2762601"/>
            <a:ext cx="6036250" cy="31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d7509d9fb_0_78"/>
          <p:cNvSpPr txBox="1"/>
          <p:nvPr/>
        </p:nvSpPr>
        <p:spPr>
          <a:xfrm>
            <a:off x="120100" y="204825"/>
            <a:ext cx="118494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IN" sz="323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 We want to find out the most popular music Genre for each country. </a:t>
            </a:r>
            <a:endParaRPr b="1" sz="323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323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560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30"/>
              <a:buFont typeface="Calibri"/>
              <a:buAutoNum type="alphaLcParenR"/>
            </a:pPr>
            <a:r>
              <a:rPr b="1" lang="en-IN" sz="263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determine the most popular genre as the genre with the highest amount of purchases. Write a query that returns each country along with the top Genre.</a:t>
            </a:r>
            <a:endParaRPr b="1" sz="263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g38d7509d9fb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25" y="2581177"/>
            <a:ext cx="12063151" cy="317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8d7509d9fb_0_78"/>
          <p:cNvPicPr preferRelativeResize="0"/>
          <p:nvPr/>
        </p:nvPicPr>
        <p:blipFill rotWithShape="1">
          <a:blip r:embed="rId4">
            <a:alphaModFix/>
          </a:blip>
          <a:srcRect b="25289" l="0" r="0" t="0"/>
          <a:stretch/>
        </p:blipFill>
        <p:spPr>
          <a:xfrm>
            <a:off x="6745425" y="3251650"/>
            <a:ext cx="3702050" cy="28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d7509d9fb_0_130"/>
          <p:cNvSpPr txBox="1"/>
          <p:nvPr/>
        </p:nvSpPr>
        <p:spPr>
          <a:xfrm>
            <a:off x="120100" y="204825"/>
            <a:ext cx="120720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IN" sz="323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 	</a:t>
            </a:r>
            <a:r>
              <a:rPr b="1" lang="en-IN" sz="263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  For countries where the maximum number of purchases is shared, return </a:t>
            </a:r>
            <a:endParaRPr b="1" sz="263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3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all </a:t>
            </a:r>
            <a:r>
              <a:rPr b="1" lang="en-IN" sz="263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Genres</a:t>
            </a:r>
            <a:r>
              <a:rPr b="1" lang="en-IN" sz="263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63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g38d7509d9fb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00" y="1487329"/>
            <a:ext cx="12072001" cy="459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8d7509d9fb_0_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5450" y="2395925"/>
            <a:ext cx="3152950" cy="373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38d7509d9fb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1525"/>
            <a:ext cx="11706176" cy="29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8d7509d9fb_0_84"/>
          <p:cNvSpPr txBox="1"/>
          <p:nvPr/>
        </p:nvSpPr>
        <p:spPr>
          <a:xfrm>
            <a:off x="120100" y="204825"/>
            <a:ext cx="118494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 	a) Write a query that determines the customer that has spent the most on music for each country. </a:t>
            </a:r>
            <a:endParaRPr b="1"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g38d7509d9fb_0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8350" y="3136075"/>
            <a:ext cx="2068625" cy="25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8d7509d9fb_0_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0025" y="3834403"/>
            <a:ext cx="3696314" cy="261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e06648fd4_0_0"/>
          <p:cNvSpPr txBox="1"/>
          <p:nvPr/>
        </p:nvSpPr>
        <p:spPr>
          <a:xfrm>
            <a:off x="120100" y="195453"/>
            <a:ext cx="118494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 	 b) </a:t>
            </a:r>
            <a:r>
              <a:rPr b="1" lang="en-IN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Write a query that returns the country along with the top customer and how much they spent. </a:t>
            </a:r>
            <a:endParaRPr b="1"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g38e06648fd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50" y="1423949"/>
            <a:ext cx="11992749" cy="3086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8e06648fd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950" y="4663328"/>
            <a:ext cx="6426950" cy="13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e06648fd4_0_19"/>
          <p:cNvSpPr txBox="1"/>
          <p:nvPr/>
        </p:nvSpPr>
        <p:spPr>
          <a:xfrm>
            <a:off x="222821" y="288836"/>
            <a:ext cx="118494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1" sz="4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8e06648fd4_0_19"/>
          <p:cNvSpPr txBox="1"/>
          <p:nvPr/>
        </p:nvSpPr>
        <p:spPr>
          <a:xfrm>
            <a:off x="148800" y="1304875"/>
            <a:ext cx="5883000" cy="4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🧑‍💼 Employee Insights 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Adams</a:t>
            </a:r>
            <a:r>
              <a:rPr lang="en-IN" sz="1700">
                <a:solidFill>
                  <a:schemeClr val="dk1"/>
                </a:solidFill>
              </a:rPr>
              <a:t> is identified as the </a:t>
            </a:r>
            <a:r>
              <a:rPr b="1" lang="en-IN" sz="1700">
                <a:solidFill>
                  <a:schemeClr val="dk1"/>
                </a:solidFill>
              </a:rPr>
              <a:t>most experienced employee</a:t>
            </a:r>
            <a:r>
              <a:rPr lang="en-IN" sz="1700">
                <a:solidFill>
                  <a:schemeClr val="dk1"/>
                </a:solidFill>
              </a:rPr>
              <a:t> in the store.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🌍 Sales by Country 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 </a:t>
            </a:r>
            <a:r>
              <a:rPr b="1" lang="en-IN" sz="1700">
                <a:solidFill>
                  <a:schemeClr val="dk1"/>
                </a:solidFill>
              </a:rPr>
              <a:t>United States (USA)</a:t>
            </a:r>
            <a:r>
              <a:rPr lang="en-IN" sz="1700">
                <a:solidFill>
                  <a:schemeClr val="dk1"/>
                </a:solidFill>
              </a:rPr>
              <a:t> has the </a:t>
            </a:r>
            <a:r>
              <a:rPr b="1" lang="en-IN" sz="1700">
                <a:solidFill>
                  <a:schemeClr val="dk1"/>
                </a:solidFill>
              </a:rPr>
              <a:t>highest number of invoices</a:t>
            </a:r>
            <a:r>
              <a:rPr lang="en-IN" sz="1700">
                <a:solidFill>
                  <a:schemeClr val="dk1"/>
                </a:solidFill>
              </a:rPr>
              <a:t>, indicating a large customer base.</a:t>
            </a:r>
            <a:br>
              <a:rPr lang="en-I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 </a:t>
            </a:r>
            <a:r>
              <a:rPr b="1" lang="en-IN" sz="1700">
                <a:solidFill>
                  <a:schemeClr val="dk1"/>
                </a:solidFill>
              </a:rPr>
              <a:t>total revenue generated from the USA</a:t>
            </a:r>
            <a:r>
              <a:rPr lang="en-IN" sz="1700">
                <a:solidFill>
                  <a:schemeClr val="dk1"/>
                </a:solidFill>
              </a:rPr>
              <a:t> amounts to </a:t>
            </a:r>
            <a:r>
              <a:rPr b="1" lang="en-IN" sz="1700">
                <a:solidFill>
                  <a:schemeClr val="dk1"/>
                </a:solidFill>
              </a:rPr>
              <a:t>$1,040.49</a:t>
            </a:r>
            <a:r>
              <a:rPr lang="en-IN" sz="1700">
                <a:solidFill>
                  <a:schemeClr val="dk1"/>
                </a:solidFill>
              </a:rPr>
              <a:t>.</a:t>
            </a:r>
            <a:br>
              <a:rPr lang="en-I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František Wichterlová</a:t>
            </a:r>
            <a:r>
              <a:rPr lang="en-IN" sz="1700">
                <a:solidFill>
                  <a:schemeClr val="dk1"/>
                </a:solidFill>
              </a:rPr>
              <a:t> from the </a:t>
            </a:r>
            <a:r>
              <a:rPr b="1" lang="en-IN" sz="1700">
                <a:solidFill>
                  <a:schemeClr val="dk1"/>
                </a:solidFill>
              </a:rPr>
              <a:t>Czech Republic</a:t>
            </a:r>
            <a:r>
              <a:rPr lang="en-IN" sz="1700">
                <a:solidFill>
                  <a:schemeClr val="dk1"/>
                </a:solidFill>
              </a:rPr>
              <a:t> is the </a:t>
            </a:r>
            <a:r>
              <a:rPr b="1" lang="en-IN" sz="1700">
                <a:solidFill>
                  <a:schemeClr val="dk1"/>
                </a:solidFill>
              </a:rPr>
              <a:t>top customer</a:t>
            </a:r>
            <a:r>
              <a:rPr lang="en-IN" sz="1700">
                <a:solidFill>
                  <a:schemeClr val="dk1"/>
                </a:solidFill>
              </a:rPr>
              <a:t>, spending a total of </a:t>
            </a:r>
            <a:r>
              <a:rPr b="1" lang="en-IN" sz="1700">
                <a:solidFill>
                  <a:schemeClr val="dk1"/>
                </a:solidFill>
              </a:rPr>
              <a:t>$144.54</a:t>
            </a:r>
            <a:r>
              <a:rPr lang="en-IN" sz="1700">
                <a:solidFill>
                  <a:schemeClr val="dk1"/>
                </a:solidFill>
              </a:rPr>
              <a:t>.</a:t>
            </a:r>
            <a:br>
              <a:rPr lang="en-I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 </a:t>
            </a:r>
            <a:r>
              <a:rPr b="1" lang="en-IN" sz="1700">
                <a:solidFill>
                  <a:schemeClr val="dk1"/>
                </a:solidFill>
              </a:rPr>
              <a:t>highest single purchase</a:t>
            </a:r>
            <a:r>
              <a:rPr lang="en-IN" sz="1700">
                <a:solidFill>
                  <a:schemeClr val="dk1"/>
                </a:solidFill>
              </a:rPr>
              <a:t> recorded is </a:t>
            </a:r>
            <a:r>
              <a:rPr b="1" lang="en-IN" sz="1700">
                <a:solidFill>
                  <a:schemeClr val="dk1"/>
                </a:solidFill>
              </a:rPr>
              <a:t>$23.76</a:t>
            </a:r>
            <a:r>
              <a:rPr lang="en-I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40" name="Google Shape;240;g38e06648fd4_0_19"/>
          <p:cNvSpPr txBox="1"/>
          <p:nvPr/>
        </p:nvSpPr>
        <p:spPr>
          <a:xfrm>
            <a:off x="6031800" y="1304875"/>
            <a:ext cx="6023100" cy="51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🎸 Music &amp; Genre Insights :</a:t>
            </a:r>
            <a:endParaRPr b="1" sz="20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Within the </a:t>
            </a:r>
            <a:r>
              <a:rPr b="1" lang="en-IN" sz="1700">
                <a:solidFill>
                  <a:schemeClr val="dk1"/>
                </a:solidFill>
              </a:rPr>
              <a:t>Rock</a:t>
            </a:r>
            <a:r>
              <a:rPr lang="en-IN" sz="1700">
                <a:solidFill>
                  <a:schemeClr val="dk1"/>
                </a:solidFill>
              </a:rPr>
              <a:t> genre, </a:t>
            </a:r>
            <a:r>
              <a:rPr b="1" lang="en-IN" sz="1700">
                <a:solidFill>
                  <a:schemeClr val="dk1"/>
                </a:solidFill>
              </a:rPr>
              <a:t>Led Zeppelin</a:t>
            </a:r>
            <a:r>
              <a:rPr lang="en-IN" sz="1700">
                <a:solidFill>
                  <a:schemeClr val="dk1"/>
                </a:solidFill>
              </a:rPr>
              <a:t> has the </a:t>
            </a:r>
            <a:r>
              <a:rPr b="1" lang="en-IN" sz="1700">
                <a:solidFill>
                  <a:schemeClr val="dk1"/>
                </a:solidFill>
              </a:rPr>
              <a:t>highest number of tracks (114)</a:t>
            </a:r>
            <a:r>
              <a:rPr lang="en-IN" sz="1700">
                <a:solidFill>
                  <a:schemeClr val="dk1"/>
                </a:solidFill>
              </a:rPr>
              <a:t>.</a:t>
            </a:r>
            <a:br>
              <a:rPr lang="en-I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 track </a:t>
            </a:r>
            <a:r>
              <a:rPr b="1" lang="en-IN" sz="1700">
                <a:solidFill>
                  <a:schemeClr val="dk1"/>
                </a:solidFill>
              </a:rPr>
              <a:t>“Occupation/Precipice”</a:t>
            </a:r>
            <a:r>
              <a:rPr lang="en-IN" sz="1700">
                <a:solidFill>
                  <a:schemeClr val="dk1"/>
                </a:solidFill>
              </a:rPr>
              <a:t> is the </a:t>
            </a:r>
            <a:r>
              <a:rPr b="1" lang="en-IN" sz="1700">
                <a:solidFill>
                  <a:schemeClr val="dk1"/>
                </a:solidFill>
              </a:rPr>
              <a:t>longest</a:t>
            </a:r>
            <a:r>
              <a:rPr lang="en-IN" sz="1700">
                <a:solidFill>
                  <a:schemeClr val="dk1"/>
                </a:solidFill>
              </a:rPr>
              <a:t> in the store’s collection.</a:t>
            </a:r>
            <a:br>
              <a:rPr lang="en-I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 combination of </a:t>
            </a:r>
            <a:r>
              <a:rPr b="1" lang="en-IN" sz="1700">
                <a:solidFill>
                  <a:schemeClr val="dk1"/>
                </a:solidFill>
              </a:rPr>
              <a:t>USA customers</a:t>
            </a:r>
            <a:r>
              <a:rPr lang="en-IN" sz="1700">
                <a:solidFill>
                  <a:schemeClr val="dk1"/>
                </a:solidFill>
              </a:rPr>
              <a:t> and the </a:t>
            </a:r>
            <a:r>
              <a:rPr b="1" lang="en-IN" sz="1700">
                <a:solidFill>
                  <a:schemeClr val="dk1"/>
                </a:solidFill>
              </a:rPr>
              <a:t>Rock genre</a:t>
            </a:r>
            <a:r>
              <a:rPr lang="en-IN" sz="1700">
                <a:solidFill>
                  <a:schemeClr val="dk1"/>
                </a:solidFill>
              </a:rPr>
              <a:t> results in the </a:t>
            </a:r>
            <a:r>
              <a:rPr b="1" lang="en-IN" sz="1700">
                <a:solidFill>
                  <a:schemeClr val="dk1"/>
                </a:solidFill>
              </a:rPr>
              <a:t>highest overall sales</a:t>
            </a:r>
            <a:r>
              <a:rPr lang="en-I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💰 Country-Level Spending Highlight :</a:t>
            </a:r>
            <a:endParaRPr b="1" sz="20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Czech Republic</a:t>
            </a:r>
            <a:r>
              <a:rPr lang="en-IN" sz="1700">
                <a:solidFill>
                  <a:schemeClr val="dk1"/>
                </a:solidFill>
              </a:rPr>
              <a:t> stands out for having the </a:t>
            </a:r>
            <a:r>
              <a:rPr b="1" lang="en-IN" sz="1700">
                <a:solidFill>
                  <a:schemeClr val="dk1"/>
                </a:solidFill>
              </a:rPr>
              <a:t>top spender</a:t>
            </a:r>
            <a:r>
              <a:rPr lang="en-IN" sz="1700">
                <a:solidFill>
                  <a:schemeClr val="dk1"/>
                </a:solidFill>
              </a:rPr>
              <a:t>, </a:t>
            </a:r>
            <a:r>
              <a:rPr b="1" lang="en-IN" sz="1700">
                <a:solidFill>
                  <a:schemeClr val="dk1"/>
                </a:solidFill>
              </a:rPr>
              <a:t>František Wichterlová</a:t>
            </a:r>
            <a:r>
              <a:rPr lang="en-IN" sz="1700">
                <a:solidFill>
                  <a:schemeClr val="dk1"/>
                </a:solidFill>
              </a:rPr>
              <a:t>, contributing the most revenue from that region.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g38e06648fd4_0_19"/>
          <p:cNvCxnSpPr/>
          <p:nvPr/>
        </p:nvCxnSpPr>
        <p:spPr>
          <a:xfrm flipH="1">
            <a:off x="6041200" y="1168833"/>
            <a:ext cx="27900" cy="49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g38e06648fd4_0_19"/>
          <p:cNvCxnSpPr/>
          <p:nvPr/>
        </p:nvCxnSpPr>
        <p:spPr>
          <a:xfrm flipH="1" rot="10800000">
            <a:off x="0" y="1127475"/>
            <a:ext cx="12148500" cy="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g38e06648fd4_0_19"/>
          <p:cNvCxnSpPr/>
          <p:nvPr/>
        </p:nvCxnSpPr>
        <p:spPr>
          <a:xfrm>
            <a:off x="40331" y="6139654"/>
            <a:ext cx="12148500" cy="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g38e06648fd4_0_19"/>
          <p:cNvCxnSpPr/>
          <p:nvPr/>
        </p:nvCxnSpPr>
        <p:spPr>
          <a:xfrm rot="10800000">
            <a:off x="17925" y="2658915"/>
            <a:ext cx="6051300" cy="5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g38e06648fd4_0_19"/>
          <p:cNvCxnSpPr/>
          <p:nvPr/>
        </p:nvCxnSpPr>
        <p:spPr>
          <a:xfrm flipH="1">
            <a:off x="6082200" y="4255740"/>
            <a:ext cx="6159600" cy="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7e83be3ac_0_0"/>
          <p:cNvSpPr txBox="1"/>
          <p:nvPr/>
        </p:nvSpPr>
        <p:spPr>
          <a:xfrm>
            <a:off x="222821" y="438737"/>
            <a:ext cx="118494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r>
              <a:rPr b="1" lang="en-IN" sz="4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b="1" sz="4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97e83be3ac_0_0"/>
          <p:cNvSpPr txBox="1"/>
          <p:nvPr/>
        </p:nvSpPr>
        <p:spPr>
          <a:xfrm>
            <a:off x="130550" y="1318516"/>
            <a:ext cx="11941800" cy="50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</a:rPr>
              <a:t>1. Data Quality Issues :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❖"/>
            </a:pPr>
            <a:r>
              <a:rPr lang="en-IN" sz="2200">
                <a:solidFill>
                  <a:schemeClr val="dk1"/>
                </a:solidFill>
              </a:rPr>
              <a:t>Some names and special characters (like “František Wichterlová”) were not properly encoded.</a:t>
            </a:r>
            <a:br>
              <a:rPr lang="en-IN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</a:rPr>
              <a:t>2. Data Integration Difficulties :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❖"/>
            </a:pPr>
            <a:r>
              <a:rPr lang="en-IN" sz="2200">
                <a:solidFill>
                  <a:schemeClr val="dk1"/>
                </a:solidFill>
              </a:rPr>
              <a:t>Joining multiple tables (Customer, Invoice, Track, Album, Artist) required careful foreign key mapping.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</a:rPr>
              <a:t>3. Data Quantity Issues :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❖"/>
            </a:pPr>
            <a:r>
              <a:rPr lang="en-IN" sz="2200">
                <a:solidFill>
                  <a:schemeClr val="dk1"/>
                </a:solidFill>
              </a:rPr>
              <a:t>Some tables have too many data points , where the import wizard was unable to handle  so i have to load it </a:t>
            </a:r>
            <a:r>
              <a:rPr lang="en-IN" sz="2200">
                <a:solidFill>
                  <a:schemeClr val="dk1"/>
                </a:solidFill>
              </a:rPr>
              <a:t>manually.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7dcd1651d_0_0"/>
          <p:cNvSpPr txBox="1"/>
          <p:nvPr/>
        </p:nvSpPr>
        <p:spPr>
          <a:xfrm>
            <a:off x="222821" y="438737"/>
            <a:ext cx="118494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 : </a:t>
            </a:r>
            <a:endParaRPr b="1" sz="4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97dcd1651d_0_0"/>
          <p:cNvSpPr txBox="1"/>
          <p:nvPr/>
        </p:nvSpPr>
        <p:spPr>
          <a:xfrm>
            <a:off x="130550" y="578376"/>
            <a:ext cx="11941800" cy="50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❖"/>
            </a:pPr>
            <a:r>
              <a:rPr lang="en-IN" sz="2200">
                <a:solidFill>
                  <a:schemeClr val="dk1"/>
                </a:solidFill>
              </a:rPr>
              <a:t>The analysis shows that Adams is the most experienced employee.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❖"/>
            </a:pPr>
            <a:r>
              <a:rPr lang="en-IN" sz="2200">
                <a:solidFill>
                  <a:schemeClr val="dk1"/>
                </a:solidFill>
              </a:rPr>
              <a:t>Most customers are from the USA, which also has the highest total revenue of $1040.49. Specifically r</a:t>
            </a:r>
            <a:r>
              <a:rPr lang="en-IN" sz="2200">
                <a:solidFill>
                  <a:schemeClr val="dk1"/>
                </a:solidFill>
              </a:rPr>
              <a:t>ock music has the highest sales, showing that American listeners greatly enjoy Rock music.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❖"/>
            </a:pPr>
            <a:r>
              <a:rPr lang="en-IN" sz="2200">
                <a:solidFill>
                  <a:schemeClr val="dk1"/>
                </a:solidFill>
              </a:rPr>
              <a:t>The highest single purchase is $23.76, and the Star Customer is František Wichterlová from the Czech Republic, with $144.54 spent.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❖"/>
            </a:pPr>
            <a:r>
              <a:rPr lang="en-IN" sz="2200">
                <a:solidFill>
                  <a:schemeClr val="dk1"/>
                </a:solidFill>
              </a:rPr>
              <a:t>Led Zeppelin has the most no of tracks.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g397dcd1651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26" y="5136005"/>
            <a:ext cx="372317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intQ&amp;A banner. Question and answer on speech bubbles vector illustration (Provided by Getty Images)" id="266" name="Google Shape;266;g39d00c01fd8_0_0"/>
          <p:cNvPicPr preferRelativeResize="0"/>
          <p:nvPr/>
        </p:nvPicPr>
        <p:blipFill rotWithShape="1">
          <a:blip r:embed="rId3">
            <a:alphaModFix/>
          </a:blip>
          <a:srcRect b="10996" l="6698" r="7420" t="11454"/>
          <a:stretch/>
        </p:blipFill>
        <p:spPr>
          <a:xfrm>
            <a:off x="2571750" y="740838"/>
            <a:ext cx="7048499" cy="53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"/>
          <p:cNvSpPr txBox="1"/>
          <p:nvPr/>
        </p:nvSpPr>
        <p:spPr>
          <a:xfrm>
            <a:off x="1244600" y="2303905"/>
            <a:ext cx="366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b="0" i="0" lang="en-IN" sz="6000" u="none" cap="none" strike="noStrik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2021-02-16T05:19:01Z</dcterms:created>
  <dc:creator>Raghu Ram Aduri</dc:creator>
</cp:coreProperties>
</file>